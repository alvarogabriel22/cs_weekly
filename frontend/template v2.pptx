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34129D-6026-49A2-8C2E-7313FDFC0BBE}">
  <a:tblStyle styleId="{8434129D-6026-49A2-8C2E-7313FDFC0B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22960" y="731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C379C"/>
                </a:solidFill>
                <a:latin typeface="Arial"/>
                <a:ea typeface="Arial"/>
                <a:cs typeface="Arial"/>
                <a:sym typeface="Arial"/>
              </a:rPr>
              <a:t>QUALITY WEEKLY INTELLIGENCE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22960" y="1828800"/>
            <a:ext cx="9875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81F2E"/>
                </a:solidFill>
                <a:latin typeface="Arial"/>
                <a:ea typeface="Arial"/>
                <a:cs typeface="Arial"/>
                <a:sym typeface="Arial"/>
              </a:rPr>
              <a:t>Weekly Report - 08/07/2026 a 12/07/2026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68680" y="31546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C6574"/>
                </a:solidFill>
                <a:latin typeface="Arial"/>
                <a:ea typeface="Arial"/>
                <a:cs typeface="Arial"/>
                <a:sym typeface="Arial"/>
              </a:rPr>
              <a:t>Semana 28 · 2026  |  CSI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8680" y="5440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81F2E"/>
                </a:solidFill>
                <a:latin typeface="Arial"/>
                <a:ea typeface="Arial"/>
                <a:cs typeface="Arial"/>
                <a:sym typeface="Arial"/>
              </a:rPr>
              <a:t>alvaro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68680" y="5806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6574"/>
                </a:solidFill>
                <a:latin typeface="Arial"/>
                <a:ea typeface="Arial"/>
                <a:cs typeface="Arial"/>
                <a:sym typeface="Arial"/>
              </a:rPr>
              <a:t>Relatório gerado a partir das atividades e evidências registradas.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97280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57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85800" y="411480"/>
            <a:ext cx="90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1F2E"/>
                </a:solidFill>
              </a:rPr>
              <a:t>W29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 rot="-5400000">
            <a:off x="378662" y="1422350"/>
            <a:ext cx="375000" cy="921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071085" y="5134410"/>
            <a:ext cx="310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C379C"/>
                </a:solidFill>
                <a:latin typeface="Arial"/>
                <a:ea typeface="Arial"/>
                <a:cs typeface="Arial"/>
                <a:sym typeface="Arial"/>
              </a:rPr>
              <a:t>DESTAQUES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235677" y="5564178"/>
            <a:ext cx="303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81F2E"/>
                </a:solidFill>
                <a:latin typeface="Arial"/>
                <a:ea typeface="Arial"/>
                <a:cs typeface="Arial"/>
                <a:sym typeface="Arial"/>
              </a:rPr>
              <a:t>Defeitos sistêmicos no Modelo A</a:t>
            </a:r>
            <a:r>
              <a:rPr b="1" lang="en-US" sz="1150">
                <a:solidFill>
                  <a:srgbClr val="181F2E"/>
                </a:solidFill>
              </a:rPr>
              <a:t>36</a:t>
            </a:r>
            <a:r>
              <a:rPr b="1" i="0" lang="en-US" sz="1150" u="none" cap="none" strike="noStrike">
                <a:solidFill>
                  <a:srgbClr val="181F2E"/>
                </a:solidFill>
                <a:latin typeface="Arial"/>
                <a:ea typeface="Arial"/>
                <a:cs typeface="Arial"/>
                <a:sym typeface="Arial"/>
              </a:rPr>
              <a:t> exigem ação imediata do fornecedor (W33).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231875" y="780775"/>
            <a:ext cx="45600" cy="6077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235677" y="6277410"/>
            <a:ext cx="303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First Pass Yield (FPY) ▲ Melhorou | Touch Defect Rate ▼ Piorou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8042410" y="5527593"/>
            <a:ext cx="45600" cy="5028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85800" y="64739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574"/>
                </a:solidFill>
                <a:latin typeface="Arial"/>
                <a:ea typeface="Arial"/>
                <a:cs typeface="Arial"/>
                <a:sym typeface="Arial"/>
              </a:rPr>
              <a:t>QWI · Quality Weekly Intelligence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972800" y="64190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C657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33200" y="777025"/>
            <a:ext cx="5644200" cy="732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85800" y="1268300"/>
            <a:ext cx="52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Smartphone Galaxy A36 5G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9700" y="1567025"/>
            <a:ext cx="489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Aumento de </a:t>
            </a:r>
            <a:r>
              <a:rPr b="1" lang="en-US" sz="1100">
                <a:solidFill>
                  <a:schemeClr val="dk1"/>
                </a:solidFill>
              </a:rPr>
              <a:t>32%</a:t>
            </a:r>
            <a:r>
              <a:rPr lang="en-US" sz="1100">
                <a:solidFill>
                  <a:schemeClr val="dk1"/>
                </a:solidFill>
              </a:rPr>
              <a:t> nas ocorrências de falha no teste funcional final (FCT).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9700" y="1783863"/>
            <a:ext cx="567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Principal modo de falha: </a:t>
            </a:r>
            <a:r>
              <a:rPr b="1" lang="en-US" sz="1100">
                <a:solidFill>
                  <a:schemeClr val="dk1"/>
                </a:solidFill>
              </a:rPr>
              <a:t>Touch Screen No Response</a:t>
            </a:r>
            <a:r>
              <a:rPr lang="en-US" sz="1100">
                <a:solidFill>
                  <a:schemeClr val="dk1"/>
                </a:solidFill>
              </a:rPr>
              <a:t> após atualização de firmware.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9700" y="1995475"/>
            <a:ext cx="617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Lote impactado: </a:t>
            </a:r>
            <a:r>
              <a:rPr b="1" lang="en-US" sz="1100">
                <a:solidFill>
                  <a:schemeClr val="dk1"/>
                </a:solidFill>
              </a:rPr>
              <a:t>L2407B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Produção afetada: aproximadamente </a:t>
            </a:r>
            <a:r>
              <a:rPr b="1" lang="en-US" sz="1100">
                <a:solidFill>
                  <a:schemeClr val="dk1"/>
                </a:solidFill>
              </a:rPr>
              <a:t>1.850 unidades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839700" y="2528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Tratativas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 rot="-5400000">
            <a:off x="378662" y="2604037"/>
            <a:ext cx="375000" cy="921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19500" y="2860350"/>
            <a:ext cx="657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Reunião técnica com Engenharia de Processo e fornecedor do display.</a:t>
            </a:r>
            <a:endParaRPr sz="1100"/>
          </a:p>
        </p:txBody>
      </p:sp>
      <p:sp>
        <p:nvSpPr>
          <p:cNvPr id="112" name="Google Shape;112;p14"/>
          <p:cNvSpPr txBox="1"/>
          <p:nvPr/>
        </p:nvSpPr>
        <p:spPr>
          <a:xfrm>
            <a:off x="719500" y="3071525"/>
            <a:ext cx="542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Coleta de amostras para análise laboratorial.</a:t>
            </a:r>
            <a:endParaRPr sz="1100"/>
          </a:p>
        </p:txBody>
      </p:sp>
      <p:sp>
        <p:nvSpPr>
          <p:cNvPr id="113" name="Google Shape;113;p14"/>
          <p:cNvSpPr/>
          <p:nvPr/>
        </p:nvSpPr>
        <p:spPr>
          <a:xfrm>
            <a:off x="8042410" y="6203004"/>
            <a:ext cx="45600" cy="5028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39700" y="3368248"/>
            <a:ext cx="1177664" cy="7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8475" y="2124538"/>
            <a:ext cx="1367150" cy="7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719500" y="42962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Anomalia Crítica – Galaxy S25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 rot="-5400000">
            <a:off x="452262" y="4410887"/>
            <a:ext cx="375000" cy="921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93700" y="4500225"/>
            <a:ext cx="269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D9EEB"/>
              </a:buClr>
              <a:buSzPts val="900"/>
              <a:buChar char="❖"/>
            </a:pPr>
            <a:r>
              <a:rPr b="1" lang="en-US" sz="900">
                <a:solidFill>
                  <a:srgbClr val="6D9EEB"/>
                </a:solidFill>
              </a:rPr>
              <a:t>Rear Camera Focus Failure</a:t>
            </a:r>
            <a:endParaRPr b="1" sz="900">
              <a:solidFill>
                <a:srgbClr val="6D9EEB"/>
              </a:solidFill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20100" y="476508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b="1" lang="en-US" sz="1200"/>
              <a:t>Ações em andamento</a:t>
            </a:r>
            <a:endParaRPr b="1" sz="1200"/>
          </a:p>
        </p:txBody>
      </p:sp>
      <p:sp>
        <p:nvSpPr>
          <p:cNvPr id="120" name="Google Shape;120;p14"/>
          <p:cNvSpPr txBox="1"/>
          <p:nvPr/>
        </p:nvSpPr>
        <p:spPr>
          <a:xfrm>
            <a:off x="520100" y="4994900"/>
            <a:ext cx="46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Auditoria no equipamento de torque.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Recalibração das ferramentas.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Validação dos parâmetros de montagem.</a:t>
            </a:r>
            <a:endParaRPr sz="1200"/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6288" y="4359186"/>
            <a:ext cx="1177675" cy="135812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6711600" y="880700"/>
            <a:ext cx="42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Linha de Tablets Galaxy Tab S10 FE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 rot="-5400000">
            <a:off x="6481312" y="1034750"/>
            <a:ext cx="375000" cy="921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776650" y="1206800"/>
            <a:ext cx="421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Redução de </a:t>
            </a:r>
            <a:r>
              <a:rPr b="1" lang="en-US" sz="1100">
                <a:solidFill>
                  <a:schemeClr val="dk1"/>
                </a:solidFill>
              </a:rPr>
              <a:t>21%</a:t>
            </a:r>
            <a:r>
              <a:rPr lang="en-US" sz="1100">
                <a:solidFill>
                  <a:schemeClr val="dk1"/>
                </a:solidFill>
              </a:rPr>
              <a:t> nas ocorrências de </a:t>
            </a:r>
            <a:r>
              <a:rPr b="1" lang="en-US" sz="1100">
                <a:solidFill>
                  <a:schemeClr val="dk1"/>
                </a:solidFill>
              </a:rPr>
              <a:t>Housing Scratch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</a:pPr>
            <a:r>
              <a:rPr lang="en-US" sz="1100">
                <a:solidFill>
                  <a:schemeClr val="dk1"/>
                </a:solidFill>
              </a:rPr>
              <a:t>Redução de </a:t>
            </a:r>
            <a:r>
              <a:rPr b="1" lang="en-US" sz="1100">
                <a:solidFill>
                  <a:schemeClr val="dk1"/>
                </a:solidFill>
              </a:rPr>
              <a:t>18%</a:t>
            </a:r>
            <a:r>
              <a:rPr lang="en-US" sz="1100">
                <a:solidFill>
                  <a:schemeClr val="dk1"/>
                </a:solidFill>
              </a:rPr>
              <a:t> em retrabalhos mecânicos.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25" name="Google Shape;125;p14"/>
          <p:cNvGraphicFramePr/>
          <p:nvPr/>
        </p:nvGraphicFramePr>
        <p:xfrm>
          <a:off x="6776650" y="225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{8434129D-6026-49A2-8C2E-7313FDFC0BBE}</a:tableStyleId>
              </a:tblPr>
              <a:tblGrid>
                <a:gridCol w="2162900"/>
                <a:gridCol w="1362300"/>
                <a:gridCol w="1015750"/>
              </a:tblGrid>
              <a:tr h="34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KPI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Resultado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Tendência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First Pass Yield (FPY)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97,8% → 98,4%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▲ Melhorou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Defect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1,92% → 1,54%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▲ Melhorou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Rework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4,1% → 3,5%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▲ Melhorou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OBA Failure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0,44% → 0,39%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▲ Melhorou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Customer Return Prediction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Estável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►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FCT Failure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0,68% → 0,94%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▼ Piorou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Touch Defect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+27%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▼ Piorou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14"/>
          <p:cNvSpPr txBox="1"/>
          <p:nvPr/>
        </p:nvSpPr>
        <p:spPr>
          <a:xfrm>
            <a:off x="6714850" y="1668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/>
              <a:t>Evolução dos KPIs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 rot="-5400000">
            <a:off x="6481312" y="1943425"/>
            <a:ext cx="375000" cy="92100"/>
          </a:xfrm>
          <a:prstGeom prst="rect">
            <a:avLst/>
          </a:prstGeom>
          <a:solidFill>
            <a:srgbClr val="0C37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